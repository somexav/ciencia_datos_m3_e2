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77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367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7A4D">
              <a:alpha val="12000"/>
            </a:srgbClr>
          </a:solidFill>
          <a:ln w="12700">
            <a:solidFill>
              <a:srgbClr val="007A4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Shape 2"/>
          <p:cNvSpPr/>
          <p:nvPr/>
        </p:nvSpPr>
        <p:spPr>
          <a:xfrm>
            <a:off x="6583680" y="1371600"/>
            <a:ext cx="3200400" cy="3200400"/>
          </a:xfrm>
          <a:prstGeom prst="ellipse">
            <a:avLst/>
          </a:prstGeom>
          <a:solidFill>
            <a:srgbClr val="CADCFC">
              <a:alpha val="8000"/>
            </a:srgbClr>
          </a:solidFill>
          <a:ln w="12700">
            <a:solidFill>
              <a:srgbClr val="CADCF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64008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ADCFC"/>
                </a:solidFill>
              </a:rPr>
              <a:t>DIPLOMADO CIENCIAS DE DATOS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FIFA 19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</a:rPr>
              <a:t>Identificación de </a:t>
            </a:r>
            <a:r>
              <a:rPr lang="en-US" sz="1500" i="1" dirty="0" err="1">
                <a:solidFill>
                  <a:srgbClr val="CADCFC"/>
                </a:solidFill>
              </a:rPr>
              <a:t>perfiles</a:t>
            </a:r>
            <a:r>
              <a:rPr lang="en-US" sz="1500" i="1" dirty="0">
                <a:solidFill>
                  <a:srgbClr val="CADCFC"/>
                </a:solidFill>
              </a:rPr>
              <a:t> </a:t>
            </a:r>
            <a:r>
              <a:rPr lang="en-US" sz="1500" i="1" dirty="0" err="1">
                <a:solidFill>
                  <a:srgbClr val="CADCFC"/>
                </a:solidFill>
              </a:rPr>
              <a:t>tácticos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4114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/>
          <p:nvPr/>
        </p:nvSpPr>
        <p:spPr>
          <a:xfrm>
            <a:off x="54864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Generación 33  ·  FES Acatlán  ·  Abril 2026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Segundo Examen · Módulo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 |  Objetivo y Datos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63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9728" cy="3474720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Objetivo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6002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Identificar segmentos de jugadores con características similares para construir equipos ficticios tácticamente balanceados, sin usar métricas compuestas como Overall o Potential.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" y="3063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A4D"/>
                </a:solidFill>
              </a:rPr>
              <a:t>17,140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73736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Jugadores analizados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3566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A4D"/>
                </a:solidFill>
              </a:rPr>
              <a:t>27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3736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Variables seleccionadas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4069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A4D"/>
                </a:solidFill>
              </a:rPr>
              <a:t>5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737360" y="4069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Clusters identificados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0" y="1005839"/>
            <a:ext cx="3108960" cy="3637341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Text 13"/>
          <p:cNvSpPr/>
          <p:nvPr/>
        </p:nvSpPr>
        <p:spPr>
          <a:xfrm>
            <a:off x="5806440" y="1097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Variables por Grupo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806440" y="1572768"/>
            <a:ext cx="2834640" cy="658368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5"/>
          <p:cNvSpPr/>
          <p:nvPr/>
        </p:nvSpPr>
        <p:spPr>
          <a:xfrm>
            <a:off x="5943600" y="1609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Técnicas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0" y="18836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 Crossing, Finishing, </a:t>
            </a:r>
            <a:r>
              <a:rPr lang="en-US" sz="950" dirty="0" err="1">
                <a:solidFill>
                  <a:srgbClr val="CADCFC"/>
                </a:solidFill>
              </a:rPr>
              <a:t>ShortPassing</a:t>
            </a:r>
            <a:r>
              <a:rPr lang="en-US" sz="950" dirty="0">
                <a:solidFill>
                  <a:srgbClr val="CADCFC"/>
                </a:solidFill>
              </a:rPr>
              <a:t>, Volleys, Dribbling, </a:t>
            </a:r>
            <a:r>
              <a:rPr lang="en-US" sz="950" dirty="0" err="1">
                <a:solidFill>
                  <a:srgbClr val="CADCFC"/>
                </a:solidFill>
              </a:rPr>
              <a:t>FKAccuracy</a:t>
            </a:r>
            <a:r>
              <a:rPr lang="en-US" sz="950" dirty="0">
                <a:solidFill>
                  <a:srgbClr val="CADCFC"/>
                </a:solidFill>
              </a:rPr>
              <a:t>, </a:t>
            </a:r>
            <a:r>
              <a:rPr lang="en-US" sz="950" dirty="0" err="1">
                <a:solidFill>
                  <a:srgbClr val="CADCFC"/>
                </a:solidFill>
              </a:rPr>
              <a:t>LongPassing</a:t>
            </a:r>
            <a:r>
              <a:rPr lang="en-US" sz="950" dirty="0">
                <a:solidFill>
                  <a:srgbClr val="CADCFC"/>
                </a:solidFill>
              </a:rPr>
              <a:t>, </a:t>
            </a:r>
            <a:r>
              <a:rPr lang="en-US" sz="950" dirty="0" err="1">
                <a:solidFill>
                  <a:srgbClr val="CADCFC"/>
                </a:solidFill>
              </a:rPr>
              <a:t>BallControl</a:t>
            </a:r>
            <a:r>
              <a:rPr lang="en-US" sz="950" dirty="0">
                <a:solidFill>
                  <a:srgbClr val="CADCFC"/>
                </a:solidFill>
              </a:rPr>
              <a:t>, </a:t>
            </a:r>
            <a:r>
              <a:rPr lang="en-US" sz="950" dirty="0" err="1">
                <a:solidFill>
                  <a:srgbClr val="CADCFC"/>
                </a:solidFill>
              </a:rPr>
              <a:t>LongShots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06440" y="2350008"/>
            <a:ext cx="2834640" cy="658368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8"/>
          <p:cNvSpPr/>
          <p:nvPr/>
        </p:nvSpPr>
        <p:spPr>
          <a:xfrm>
            <a:off x="5943600" y="2386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Físicas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0" y="2660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Acceleration, </a:t>
            </a:r>
            <a:r>
              <a:rPr lang="en-US" sz="950" dirty="0" err="1">
                <a:solidFill>
                  <a:srgbClr val="CADCFC"/>
                </a:solidFill>
              </a:rPr>
              <a:t>SprintSpeed</a:t>
            </a:r>
            <a:r>
              <a:rPr lang="en-US" sz="950" dirty="0">
                <a:solidFill>
                  <a:srgbClr val="CADCFC"/>
                </a:solidFill>
              </a:rPr>
              <a:t>, Agility, Balance, </a:t>
            </a:r>
            <a:r>
              <a:rPr lang="en-US" sz="950" dirty="0" err="1">
                <a:solidFill>
                  <a:srgbClr val="CADCFC"/>
                </a:solidFill>
              </a:rPr>
              <a:t>ShotPower</a:t>
            </a:r>
            <a:r>
              <a:rPr lang="en-US" sz="950" dirty="0">
                <a:solidFill>
                  <a:srgbClr val="CADCFC"/>
                </a:solidFill>
              </a:rPr>
              <a:t>, Jumping, Stamina, Strength, </a:t>
            </a:r>
            <a:r>
              <a:rPr lang="en-US" sz="950" dirty="0" err="1">
                <a:solidFill>
                  <a:srgbClr val="CADCFC"/>
                </a:solidFill>
              </a:rPr>
              <a:t>HeadingAccuracy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806440" y="3127248"/>
            <a:ext cx="2834640" cy="658368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1"/>
          <p:cNvSpPr/>
          <p:nvPr/>
        </p:nvSpPr>
        <p:spPr>
          <a:xfrm>
            <a:off x="5943600" y="3163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Mentales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0" y="3438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 Reactions, Vision, Positioning, Composure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806440" y="3904488"/>
            <a:ext cx="2834640" cy="658368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27" name="Text 24"/>
          <p:cNvSpPr/>
          <p:nvPr/>
        </p:nvSpPr>
        <p:spPr>
          <a:xfrm>
            <a:off x="5943600" y="3941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Defensivas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43600" y="4215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Aggression, Interceptions, Marking, </a:t>
            </a:r>
            <a:r>
              <a:rPr lang="en-US" sz="950" dirty="0" err="1">
                <a:solidFill>
                  <a:srgbClr val="CADCFC"/>
                </a:solidFill>
              </a:rPr>
              <a:t>StandingTackle</a:t>
            </a:r>
            <a:r>
              <a:rPr lang="en-US" sz="950" dirty="0">
                <a:solidFill>
                  <a:srgbClr val="CADCFC"/>
                </a:solidFill>
              </a:rPr>
              <a:t>, </a:t>
            </a:r>
            <a:r>
              <a:rPr lang="en-US" sz="950" dirty="0" err="1">
                <a:solidFill>
                  <a:srgbClr val="CADCFC"/>
                </a:solidFill>
              </a:rPr>
              <a:t>SlidingTackle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 |  Metodología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8680" y="960120"/>
            <a:ext cx="914400" cy="914400"/>
          </a:xfrm>
          <a:prstGeom prst="ellipse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920240" y="1353312"/>
            <a:ext cx="5029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19202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Análisis exploratorio, correlaciones y selección de 27 variables puras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960120"/>
            <a:ext cx="914400" cy="914400"/>
          </a:xfrm>
          <a:prstGeom prst="ellipse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3017520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069080" y="1353312"/>
            <a:ext cx="5029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Shape 12"/>
          <p:cNvSpPr/>
          <p:nvPr/>
        </p:nvSpPr>
        <p:spPr>
          <a:xfrm>
            <a:off x="2514600" y="201168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5" name="Shape 13"/>
          <p:cNvSpPr/>
          <p:nvPr/>
        </p:nvSpPr>
        <p:spPr>
          <a:xfrm>
            <a:off x="2514600" y="2011680"/>
            <a:ext cx="1920240" cy="73152"/>
          </a:xfrm>
          <a:prstGeom prst="rect">
            <a:avLst/>
          </a:prstGeom>
          <a:solidFill>
            <a:srgbClr val="007A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260604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2514600"/>
            <a:ext cx="1737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Reducción a 6 componentes que retienen ≥88% de la varianza total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66360" y="960120"/>
            <a:ext cx="914400" cy="914400"/>
          </a:xfrm>
          <a:prstGeom prst="ellipse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5166360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217920" y="1353312"/>
            <a:ext cx="5029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Shape 19"/>
          <p:cNvSpPr/>
          <p:nvPr/>
        </p:nvSpPr>
        <p:spPr>
          <a:xfrm>
            <a:off x="4663440" y="201168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Shape 20"/>
          <p:cNvSpPr/>
          <p:nvPr/>
        </p:nvSpPr>
        <p:spPr>
          <a:xfrm>
            <a:off x="4663440" y="2011680"/>
            <a:ext cx="19202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475488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K-Means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2578608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Clustering con k=5, </a:t>
            </a:r>
            <a:r>
              <a:rPr lang="en-US" sz="1100" dirty="0" err="1">
                <a:solidFill>
                  <a:srgbClr val="111827"/>
                </a:solidFill>
              </a:rPr>
              <a:t>justificado</a:t>
            </a:r>
            <a:r>
              <a:rPr lang="en-US" sz="1100" dirty="0">
                <a:solidFill>
                  <a:srgbClr val="111827"/>
                </a:solidFill>
              </a:rPr>
              <a:t> </a:t>
            </a:r>
            <a:r>
              <a:rPr lang="en-US" sz="1100" dirty="0" err="1">
                <a:solidFill>
                  <a:srgbClr val="111827"/>
                </a:solidFill>
              </a:rPr>
              <a:t>por</a:t>
            </a:r>
            <a:r>
              <a:rPr lang="en-US" sz="1100" dirty="0">
                <a:solidFill>
                  <a:srgbClr val="111827"/>
                </a:solidFill>
              </a:rPr>
              <a:t> </a:t>
            </a:r>
            <a:r>
              <a:rPr lang="en-US" sz="1100" dirty="0" err="1">
                <a:solidFill>
                  <a:srgbClr val="111827"/>
                </a:solidFill>
              </a:rPr>
              <a:t>Calinski-Harabasz</a:t>
            </a:r>
            <a:r>
              <a:rPr lang="en-US" sz="1100" dirty="0">
                <a:solidFill>
                  <a:srgbClr val="111827"/>
                </a:solidFill>
              </a:rPr>
              <a:t> y </a:t>
            </a:r>
            <a:r>
              <a:rPr lang="en-US" sz="1100" dirty="0" err="1">
                <a:solidFill>
                  <a:srgbClr val="111827"/>
                </a:solidFill>
              </a:rPr>
              <a:t>dominio</a:t>
            </a:r>
            <a:r>
              <a:rPr lang="en-US" sz="1100" dirty="0">
                <a:solidFill>
                  <a:srgbClr val="111827"/>
                </a:solidFill>
              </a:rPr>
              <a:t> </a:t>
            </a:r>
            <a:r>
              <a:rPr lang="en-US" sz="1100" dirty="0" err="1">
                <a:solidFill>
                  <a:srgbClr val="111827"/>
                </a:solidFill>
              </a:rPr>
              <a:t>táctico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960120"/>
            <a:ext cx="914400" cy="914400"/>
          </a:xfrm>
          <a:prstGeom prst="ellipse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7315200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812280" y="201168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8" name="Shape 26"/>
          <p:cNvSpPr/>
          <p:nvPr/>
        </p:nvSpPr>
        <p:spPr>
          <a:xfrm>
            <a:off x="6812280" y="2011680"/>
            <a:ext cx="1920240" cy="73152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7"/>
          <p:cNvSpPr/>
          <p:nvPr/>
        </p:nvSpPr>
        <p:spPr>
          <a:xfrm>
            <a:off x="690372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Perfilamiento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578608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Kruskal-Wallis + Test de Dunn (Bonferroni) para validar diferencias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9585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20040" y="-76575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 |  Perfiles Identificados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42316" y="668279"/>
            <a:ext cx="1554480" cy="2009490"/>
          </a:xfrm>
          <a:prstGeom prst="rect">
            <a:avLst/>
          </a:prstGeom>
          <a:solidFill>
            <a:srgbClr val="1F2937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 dirty="0"/>
          </a:p>
        </p:txBody>
      </p:sp>
      <p:sp>
        <p:nvSpPr>
          <p:cNvPr id="5" name="Shape 3"/>
          <p:cNvSpPr/>
          <p:nvPr/>
        </p:nvSpPr>
        <p:spPr>
          <a:xfrm>
            <a:off x="242316" y="668279"/>
            <a:ext cx="1554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242316" y="668279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5468" y="1262639"/>
            <a:ext cx="1417320" cy="40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Mediocampista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Defensivo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" y="1719757"/>
            <a:ext cx="1097280" cy="256032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502920" y="171975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CDM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" y="1975789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Fortalezas: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036" y="2159299"/>
            <a:ext cx="1417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    Interceptions, Marking, </a:t>
            </a:r>
            <a:r>
              <a:rPr lang="en-US" sz="950" dirty="0" err="1">
                <a:solidFill>
                  <a:srgbClr val="94A3B8"/>
                </a:solidFill>
              </a:rPr>
              <a:t>StandingTackle</a:t>
            </a:r>
            <a:r>
              <a:rPr lang="en-US" sz="950" dirty="0">
                <a:solidFill>
                  <a:srgbClr val="94A3B8"/>
                </a:solidFill>
              </a:rPr>
              <a:t>, </a:t>
            </a:r>
            <a:r>
              <a:rPr lang="en-US" sz="950" dirty="0" err="1">
                <a:solidFill>
                  <a:srgbClr val="94A3B8"/>
                </a:solidFill>
              </a:rPr>
              <a:t>LongPassing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" y="2827441"/>
            <a:ext cx="1554480" cy="1938117"/>
          </a:xfrm>
          <a:prstGeom prst="rect">
            <a:avLst/>
          </a:prstGeom>
          <a:solidFill>
            <a:srgbClr val="1F2937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 dirty="0"/>
          </a:p>
        </p:txBody>
      </p:sp>
      <p:sp>
        <p:nvSpPr>
          <p:cNvPr id="13" name="Shape 11"/>
          <p:cNvSpPr/>
          <p:nvPr/>
        </p:nvSpPr>
        <p:spPr>
          <a:xfrm>
            <a:off x="242316" y="2817119"/>
            <a:ext cx="1554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219456" y="2769209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" y="3104854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Portero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0332" y="3701815"/>
            <a:ext cx="1097280" cy="256032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333756" y="367129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0332" y="3968169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5A623"/>
                </a:solidFill>
              </a:rPr>
              <a:t>Fortalezas</a:t>
            </a:r>
            <a:r>
              <a:rPr lang="en-US" sz="900" b="1" dirty="0">
                <a:solidFill>
                  <a:srgbClr val="F5A623"/>
                </a:solidFill>
              </a:rPr>
              <a:t>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387651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dirty="0">
                <a:solidFill>
                  <a:srgbClr val="94A3B8"/>
                </a:solidFill>
              </a:rPr>
              <a:t> Débil en todas las variables de campo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61388" y="668279"/>
            <a:ext cx="1554480" cy="2009490"/>
          </a:xfrm>
          <a:prstGeom prst="rect">
            <a:avLst/>
          </a:prstGeom>
          <a:solidFill>
            <a:srgbClr val="1F2937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1" name="Shape 19"/>
          <p:cNvSpPr/>
          <p:nvPr/>
        </p:nvSpPr>
        <p:spPr>
          <a:xfrm>
            <a:off x="1961388" y="668279"/>
            <a:ext cx="155448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1961388" y="668279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34540" y="1262639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Delantero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Atacante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187702" y="1728983"/>
            <a:ext cx="1097280" cy="256032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2194560" y="1710695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ST/CF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89404" y="2002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Fortalezas: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52828" y="2201734"/>
            <a:ext cx="1417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4A3B8"/>
                </a:solidFill>
              </a:rPr>
              <a:t>Finishing, Volleys, Positioning, </a:t>
            </a:r>
            <a:r>
              <a:rPr lang="en-US" sz="950" dirty="0" err="1">
                <a:solidFill>
                  <a:srgbClr val="94A3B8"/>
                </a:solidFill>
              </a:rPr>
              <a:t>LongShots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52244" y="2769209"/>
            <a:ext cx="1554480" cy="2018087"/>
          </a:xfrm>
          <a:prstGeom prst="rect">
            <a:avLst/>
          </a:prstGeom>
          <a:solidFill>
            <a:srgbClr val="1F2937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9" name="Shape 27"/>
          <p:cNvSpPr/>
          <p:nvPr/>
        </p:nvSpPr>
        <p:spPr>
          <a:xfrm>
            <a:off x="1952244" y="2769209"/>
            <a:ext cx="15544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1952244" y="2769209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025396" y="3363569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Defensa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Central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180844" y="3828243"/>
            <a:ext cx="1097280" cy="25603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3" name="Text 31"/>
          <p:cNvSpPr/>
          <p:nvPr/>
        </p:nvSpPr>
        <p:spPr>
          <a:xfrm>
            <a:off x="2116836" y="381543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97964" y="40958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Fortalezas: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20824" y="4272823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94A3B8"/>
                </a:solidFill>
              </a:rPr>
              <a:t>StandingTackle</a:t>
            </a:r>
            <a:r>
              <a:rPr lang="en-US" sz="950" dirty="0">
                <a:solidFill>
                  <a:srgbClr val="94A3B8"/>
                </a:solidFill>
              </a:rPr>
              <a:t>, </a:t>
            </a:r>
            <a:r>
              <a:rPr lang="en-US" sz="950" dirty="0" err="1">
                <a:solidFill>
                  <a:srgbClr val="94A3B8"/>
                </a:solidFill>
              </a:rPr>
              <a:t>SlidingTackle</a:t>
            </a:r>
            <a:r>
              <a:rPr lang="en-US" sz="950" dirty="0">
                <a:solidFill>
                  <a:srgbClr val="94A3B8"/>
                </a:solidFill>
              </a:rPr>
              <a:t>, Marking, Strength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94176" y="640080"/>
            <a:ext cx="1554480" cy="4125478"/>
          </a:xfrm>
          <a:prstGeom prst="rect">
            <a:avLst/>
          </a:prstGeom>
          <a:solidFill>
            <a:srgbClr val="1F2937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 dirty="0"/>
          </a:p>
        </p:txBody>
      </p:sp>
      <p:sp>
        <p:nvSpPr>
          <p:cNvPr id="37" name="Shape 35"/>
          <p:cNvSpPr/>
          <p:nvPr/>
        </p:nvSpPr>
        <p:spPr>
          <a:xfrm>
            <a:off x="3694176" y="658724"/>
            <a:ext cx="15544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Text 36"/>
          <p:cNvSpPr/>
          <p:nvPr/>
        </p:nvSpPr>
        <p:spPr>
          <a:xfrm>
            <a:off x="3630168" y="64043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767328" y="1519438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Extremo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Mediocampista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922776" y="2388118"/>
            <a:ext cx="1097280" cy="256032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3922776" y="238811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LW/CAM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767328" y="279959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Fortalezas: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67328" y="3073918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Finishing, Acceleration, </a:t>
            </a:r>
            <a:r>
              <a:rPr lang="en-US" sz="950" dirty="0" err="1">
                <a:solidFill>
                  <a:srgbClr val="94A3B8"/>
                </a:solidFill>
              </a:rPr>
              <a:t>SprintSpeed</a:t>
            </a:r>
            <a:r>
              <a:rPr lang="en-US" sz="950" dirty="0">
                <a:solidFill>
                  <a:srgbClr val="94A3B8"/>
                </a:solidFill>
              </a:rPr>
              <a:t>, Positioning</a:t>
            </a:r>
            <a:endParaRPr lang="en-US" sz="9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A1B2449-97FC-B800-0486-C472E5C7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690171"/>
            <a:ext cx="3396996" cy="215905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04B3E13-4504-0403-4AD8-9AD8E34F8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001" y="117584"/>
            <a:ext cx="3370107" cy="2359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|  Validación Estadística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73152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Kruskal-Wallis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Top variables discriminantes (H-statistic):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StandingTackle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200400" cy="164592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776472" y="21305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H=13,300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404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SlidingTackle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79192"/>
            <a:ext cx="3167193" cy="164592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743265" y="26609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H=13,162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935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Interceptions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209544"/>
            <a:ext cx="3114495" cy="164592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3690567" y="31912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H=12,943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465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Finishing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739896"/>
            <a:ext cx="3086341" cy="164592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3662413" y="3721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H=12,826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995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Marking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70248"/>
            <a:ext cx="3010782" cy="164592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3586854" y="4251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H=12,512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A4D"/>
                </a:solidFill>
              </a:rPr>
              <a:t>✅ 27/27 variables significativas (p&lt;0.05)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 dirty="0"/>
          </a:p>
        </p:txBody>
      </p:sp>
      <p:sp>
        <p:nvSpPr>
          <p:cNvPr id="25" name="Shape 23"/>
          <p:cNvSpPr/>
          <p:nvPr/>
        </p:nvSpPr>
        <p:spPr>
          <a:xfrm>
            <a:off x="4754880" y="960120"/>
            <a:ext cx="40233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4892040" y="1078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Test de Dunn (Bonferroni)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Comparaciones par a par entre clusters: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19202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Todos los pares de clusters presentan diferencias </a:t>
            </a:r>
            <a:r>
              <a:rPr lang="en-US" sz="1150" b="1" dirty="0">
                <a:solidFill>
                  <a:srgbClr val="007A4D"/>
                </a:solidFill>
              </a:rPr>
              <a:t>estadísticamente significativas</a:t>
            </a:r>
            <a:r>
              <a:rPr lang="en-US" sz="1150" dirty="0">
                <a:solidFill>
                  <a:srgbClr val="111827"/>
                </a:solidFill>
              </a:rPr>
              <a:t> (p&lt;0.05) en las variables analizadas.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2788919"/>
            <a:ext cx="3749040" cy="1870687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5029200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Hallazgo clave: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3154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C2 vs C4 en SlidingTackle (p=0.001) — el par más similar, ambos con perfil semi-defensivo en barridas. Sin embargo difieren significativamente en el resto de atributos.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7A4D">
              <a:alpha val="12000"/>
            </a:srgbClr>
          </a:solidFill>
          <a:ln w="12700">
            <a:solidFill>
              <a:srgbClr val="007A4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CADCFC">
              <a:alpha val="8000"/>
            </a:srgbClr>
          </a:solidFill>
          <a:ln w="12700">
            <a:solidFill>
              <a:srgbClr val="CADCF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5A623"/>
                </a:solidFill>
              </a:rPr>
              <a:t>05  |  Conclusiones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7A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91440" cy="1645920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A4D"/>
                </a:solidFill>
              </a:rPr>
              <a:t>Pipeline robusto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EDA → PCA (88% varianza, 6 componentes) → K-Means (k=5) permitió identificar 5 perfiles tácticos diferenciados a partir de 27 habilidades puras.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11480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91440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Validación estadística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Kruskal-Wallis confirma que las 27 variables discriminan significativamente (p&lt;0.05). Test de Dunn ratifica diferencias par a par con corrección Bonferroni.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91440" cy="1645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498348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Perfiles claros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508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Los 5 clusters corresponden a roles reales: GK, CB, CDM, CAM/Extremo y ST — la dimensión defensiva es el eje principal de diferenciación.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11480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91440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498348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Aplicación práctica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4290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Los clusters permiten armar equipos ficticios balanceados seleccionando jugadores de distintos segmentos para maximizar el rendimiento conjunto.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Generación 33 · FES Acatlán · Diplomado Ciencias de Datos · Abril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497</Words>
  <Application>Microsoft Office PowerPoint</Application>
  <PresentationFormat>On-screen Show (16:9)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Segmentación Jugadores FIFA 19</dc:title>
  <dc:subject>PptxGenJS Presentation</dc:subject>
  <dc:creator>PptxGenJS</dc:creator>
  <cp:lastModifiedBy>Javier Martinez</cp:lastModifiedBy>
  <cp:revision>3</cp:revision>
  <dcterms:created xsi:type="dcterms:W3CDTF">2026-04-19T22:33:19Z</dcterms:created>
  <dcterms:modified xsi:type="dcterms:W3CDTF">2026-04-19T23:01:25Z</dcterms:modified>
</cp:coreProperties>
</file>